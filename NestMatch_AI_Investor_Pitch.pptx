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in 15 seconds: 'We're building the AI operating system for real estate teams — CRM, off-plan inventory, and AI matchmaking in one platform, built to sell to 1,000 agencies and serve over a million buyers.' State the ask amount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pain visceral and quantified. If you have a stat (e.g., 'agents spend X hours/week re-keying data' or '% of leads never contacted'), put it on the second bullet. Anchor on the agency's daily frustration, not abstract market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one-sentence solution. Each card maps to a real, demoable feature. Land the line: 'They digitized the workflow — we added the intelligence layer.'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de-risk. 'This isn't a concept — it's built, tested (28 backend tests), and deployable today.' Technical investors love the 58 APIs / multi-tenant / audit-log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 (rehearse cold, have a backup video): 1) seed data + set ANTHROPIC_API_KEY so AI is live. 2) NL search. 3) Property page: DealScore + generate PDF proposal. 4) Off-plan calculator (drag sliders). 5) CRM: Fair Rotation + add lead auto-assign + drag a card. Narrate VALUE, keep under 4 min. Optional: open /docs to show 58 APIs for technical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'why now' answers 'why didn't this exist before / why won't a giant just build it.' The honest answer: LLMs only recently became reliable + cheap enough to build the intelligence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fabricate. Build bottom-up: (# target agencies) × (your annual price) = SAM. Quote sources. Investors discount round top-down numbers; they trust a defensible bottom-up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will ask 'what's the moat / why can't someone copy this.' Lead with the data flywheel (network effects within each tenant + across the platform). The model isn't the moat — the data and workflow lock-in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tiers/quotas are REAL (in the product's plan catalog). Add your unit economics: ARPU, gross margin (SaaS = high), estimated CAC and LTV. If estimates, say so. Highlight AI metering as a built-in expansion-revenue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pre-revenue, lead with PRODUCT READINESS as de-risking, then be honest about market traction (pilots, LOIs, waitlist). Never invent customers. 'Built and ready' is itself traction at this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 (don't trash competitors) but show clear differentiation: AI depth, explainability, DealScore, and multi-market. Line: 'They digitized the workflow; we added the intelligence layer — and we aren't locked to one geography.'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credible first wedge: which market, which agency profile, how you reach the first 10–20. B2B land-and-expand with bottom-up user growth is the story. Name your first channel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back people. State founder-market fit crisply. If the team is thin today, name advisors and the exact roles the raise will hire. Don't leave this blank in the live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Right-size the ask to your stage and traction — a very large ask with no revenue invites pushback. Tie the amount to concrete milestones that set up the NEXT round at a higher valuation. End the pitch HERE (the ask), not on a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restate the one-liner and the ask, then go to Q&amp;A. Have the competition matrix, financial model, and a recorded demo ready as backup. Confident, specific, numbers over adjectives.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822960"/>
            <a:ext cx="548640" cy="548640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84124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The AI Operating System</a:t>
            </a:r>
          </a:p>
          <a:p>
            <a:pPr algn="l">
              <a:spcAft>
                <a:spcPts val="600"/>
              </a:spcAft>
            </a:pPr>
            <a:r>
              <a:rPr sz="4600" b="1">
                <a:solidFill>
                  <a:srgbClr val="10B6A0"/>
                </a:solidFill>
                <a:latin typeface="Segoe UI"/>
              </a:rPr>
              <a:t>for Real 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29768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8D0E0"/>
                </a:solidFill>
                <a:latin typeface="Segoe UI"/>
              </a:rPr>
              <a:t>AI matchmaking · Off-plan marketplace · CRM · Branded proposals —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12080"/>
            <a:ext cx="4206240" cy="640080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85232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Investment Pitch — Seeking [₹ AMOUNT]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6BC"/>
                </a:solidFill>
                <a:latin typeface="Segoe UI"/>
              </a:rPr>
              <a:t>[Founder Name] · [Role] · [Date] · [email/website]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Real estate teams are drowning in disconnected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4–5 disconnected tools per agency</a:t>
            </a:r>
            <a:r>
              <a:rPr sz="1600">
                <a:solidFill>
                  <a:srgbClr val="5B667A"/>
                </a:solidFill>
                <a:latin typeface="Segoe UI"/>
              </a:rPr>
              <a:t>  —  CRM, portals, spreadsheets, WhatsApp, PDF makers — nothing talks to each other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Leads leak and never get followed up</a:t>
            </a:r>
            <a:r>
              <a:rPr sz="1600">
                <a:solidFill>
                  <a:srgbClr val="5B667A"/>
                </a:solidFill>
                <a:latin typeface="Segoe UI"/>
              </a:rPr>
              <a:t>  —  [FILL IN: % of leads lost / hours wasted on manual follow-up]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Off-plan information is fragmented</a:t>
            </a:r>
            <a:r>
              <a:rPr sz="1600">
                <a:solidFill>
                  <a:srgbClr val="5B667A"/>
                </a:solidFill>
                <a:latin typeface="Segoe UI"/>
              </a:rPr>
              <a:t>  —  Payment plans, availability, and developer data live in scattered brochures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Buyers get generic, untrustworthy results</a:t>
            </a:r>
            <a:r>
              <a:rPr sz="1600">
                <a:solidFill>
                  <a:srgbClr val="5B667A"/>
                </a:solidFill>
                <a:latin typeface="Segoe UI"/>
              </a:rPr>
              <a:t>  —  Keyword search and gut-feel matching — no explanation of *why* a property fits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AI is bolted on, not built in</a:t>
            </a:r>
            <a:r>
              <a:rPr sz="1600">
                <a:solidFill>
                  <a:srgbClr val="5B667A"/>
                </a:solidFill>
                <a:latin typeface="Segoe UI"/>
              </a:rPr>
              <a:t>  —  Most tools added a chatbot; none re-architected around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One AI-native platform that runs the whole brokerage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6974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697480" cy="109728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457200" cy="457200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AI Matchmaking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Hybrid recommender with explainable match reasons + DealScore™ investment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828800"/>
            <a:ext cx="26974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008" y="1828800"/>
            <a:ext cx="2697480" cy="1097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14884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7889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Off-Plan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38328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Developments, live unit availability &amp; an AI payment-plan calculator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828800"/>
            <a:ext cx="26974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6" y="1828800"/>
            <a:ext cx="2697480" cy="109728"/>
          </a:xfrm>
          <a:prstGeom prst="roundRect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2148840"/>
            <a:ext cx="457200" cy="457200"/>
          </a:xfrm>
          <a:prstGeom prst="roundRect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27889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Smart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38328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Lead capture, tagging, and auto-distribution (4 routing modes)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828800"/>
            <a:ext cx="26974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7424" y="1828800"/>
            <a:ext cx="2697480" cy="109728"/>
          </a:xfrm>
          <a:prstGeom prst="roundRect">
            <a:avLst/>
          </a:prstGeom>
          <a:solidFill>
            <a:srgbClr val="16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36024" y="2148840"/>
            <a:ext cx="457200" cy="457200"/>
          </a:xfrm>
          <a:prstGeom prst="roundRect">
            <a:avLst/>
          </a:prstGeom>
          <a:solidFill>
            <a:srgbClr val="16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27889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Branded Proposals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38328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One-click PDF proposals in multiple languages &amp; currencies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Powered by real Claude AI — with explainable outputs buyers and agents can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 complete, production-grade platform — already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Multi-tenant B2B SaaS</a:t>
            </a:r>
            <a:r>
              <a:rPr sz="1400">
                <a:solidFill>
                  <a:srgbClr val="5B667A"/>
                </a:solidFill>
                <a:latin typeface="Segoe UI"/>
              </a:rPr>
              <a:t>  —  isolated data per agency; 58 production APIs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Real Claude AI</a:t>
            </a:r>
            <a:r>
              <a:rPr sz="1400">
                <a:solidFill>
                  <a:srgbClr val="5B667A"/>
                </a:solidFill>
                <a:latin typeface="Segoe UI"/>
              </a:rPr>
              <a:t>  —  semantic search, copywriter, vision, assistant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DealScore™</a:t>
            </a:r>
            <a:r>
              <a:rPr sz="1400">
                <a:solidFill>
                  <a:srgbClr val="5B667A"/>
                </a:solidFill>
                <a:latin typeface="Segoe UI"/>
              </a:rPr>
              <a:t>  —  one explainable 0–100 investment grade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Off-plan + AI payment calculator</a:t>
            </a:r>
            <a:r>
              <a:rPr sz="1400">
                <a:solidFill>
                  <a:srgbClr val="5B667A"/>
                </a:solidFill>
                <a:latin typeface="Segoe UI"/>
              </a:rPr>
              <a:t>  —  booking → construction → handover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CRM lead pipeline</a:t>
            </a:r>
            <a:r>
              <a:rPr sz="1400">
                <a:solidFill>
                  <a:srgbClr val="5B667A"/>
                </a:solidFill>
                <a:latin typeface="Segoe UI"/>
              </a:rPr>
              <a:t>  —  drag-and-drop stages + 4 distribution modes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Natural-language search</a:t>
            </a:r>
            <a:r>
              <a:rPr sz="1400">
                <a:solidFill>
                  <a:srgbClr val="5B667A"/>
                </a:solidFill>
                <a:latin typeface="Segoe UI"/>
              </a:rPr>
              <a:t>  —  '3-bed under 900k with a pool' → results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Security &amp; compliance</a:t>
            </a:r>
            <a:r>
              <a:rPr sz="1400">
                <a:solidFill>
                  <a:srgbClr val="5B667A"/>
                </a:solidFill>
                <a:latin typeface="Segoe UI"/>
              </a:rPr>
              <a:t>  —  RBAC, API keys, audit logs, hashed creds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700" b="1">
                <a:solidFill>
                  <a:srgbClr val="0F172A"/>
                </a:solidFill>
                <a:latin typeface="Segoe UI"/>
              </a:rPr>
              <a:t>Premium web app</a:t>
            </a:r>
            <a:r>
              <a:rPr sz="1400">
                <a:solidFill>
                  <a:srgbClr val="5B667A"/>
                </a:solidFill>
                <a:latin typeface="Segoe UI"/>
              </a:rPr>
              <a:t>  —  off-plan marketplace, dashboards, PDF proposals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017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8D0E0"/>
                </a:solidFill>
                <a:latin typeface="Segoe UI"/>
              </a:rPr>
              <a:t>Let me show you the product in 4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C8D0E0"/>
                </a:solidFill>
                <a:latin typeface="Segoe UI"/>
              </a:rPr>
              <a:t>Natural-language search</a:t>
            </a:r>
            <a:r>
              <a:rPr sz="1200">
                <a:solidFill>
                  <a:srgbClr val="5B667A"/>
                </a:solidFill>
                <a:latin typeface="Segoe UI"/>
              </a:rPr>
              <a:t>  —  type a sentence → parsed filters + ranked results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C8D0E0"/>
                </a:solidFill>
                <a:latin typeface="Segoe UI"/>
              </a:rPr>
              <a:t>Property page</a:t>
            </a:r>
            <a:r>
              <a:rPr sz="1200">
                <a:solidFill>
                  <a:srgbClr val="5B667A"/>
                </a:solidFill>
                <a:latin typeface="Segoe UI"/>
              </a:rPr>
              <a:t>  —  AI price intelligence, DealScore, one-click PDF proposal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C8D0E0"/>
                </a:solidFill>
                <a:latin typeface="Segoe UI"/>
              </a:rPr>
              <a:t>Off-plan project</a:t>
            </a:r>
            <a:r>
              <a:rPr sz="1200">
                <a:solidFill>
                  <a:srgbClr val="5B667A"/>
                </a:solidFill>
                <a:latin typeface="Segoe UI"/>
              </a:rPr>
              <a:t>  —  drag the AI payment-plan calculator live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C8D0E0"/>
                </a:solidFill>
                <a:latin typeface="Segoe UI"/>
              </a:rPr>
              <a:t>CRM pipeline</a:t>
            </a:r>
            <a:r>
              <a:rPr sz="1200">
                <a:solidFill>
                  <a:srgbClr val="5B667A"/>
                </a:solidFill>
                <a:latin typeface="Segoe UI"/>
              </a:rPr>
              <a:t>  —  switch to Fair Rotation, add a lead, watch it auto-assign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Why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AI is finally production-ready</a:t>
            </a:r>
            <a:r>
              <a:rPr sz="1600">
                <a:solidFill>
                  <a:srgbClr val="5B667A"/>
                </a:solidFill>
                <a:latin typeface="Segoe UI"/>
              </a:rPr>
              <a:t>  —  LLMs (Claude) can do real extraction, vision &amp; reasoning at scale — not just chat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Off-plan boom</a:t>
            </a:r>
            <a:r>
              <a:rPr sz="1600">
                <a:solidFill>
                  <a:srgbClr val="5B667A"/>
                </a:solidFill>
                <a:latin typeface="Segoe UI"/>
              </a:rPr>
              <a:t>  —  UAE &amp; India off-plan volumes surging; agencies need structured inventory + payment tooling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Agencies are digitizing</a:t>
            </a:r>
            <a:r>
              <a:rPr sz="1600">
                <a:solidFill>
                  <a:srgbClr val="5B667A"/>
                </a:solidFill>
                <a:latin typeface="Segoe UI"/>
              </a:rPr>
              <a:t>  —  post-2024 shift from spreadsheets to SaaS across emerging real-estate markets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900" b="1">
                <a:solidFill>
                  <a:srgbClr val="0F172A"/>
                </a:solidFill>
                <a:latin typeface="Segoe UI"/>
              </a:rPr>
              <a:t>Buyers expect intelligence</a:t>
            </a:r>
            <a:r>
              <a:rPr sz="1600">
                <a:solidFill>
                  <a:srgbClr val="5B667A"/>
                </a:solidFill>
                <a:latin typeface="Segoe UI"/>
              </a:rPr>
              <a:t>  —  consumers now demand explainable, personalized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A large, digitizing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011680"/>
            <a:ext cx="2926080" cy="292608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TAM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[FILL IN]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2331720"/>
            <a:ext cx="2286000" cy="2286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SAM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[FILL IN]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2651760"/>
            <a:ext cx="1645920" cy="1645920"/>
          </a:xfrm>
          <a:prstGeom prst="ellipse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Segoe UI"/>
              </a:rPr>
              <a:t>SOM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[FILL IN]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TAM — [FILL IN: # brokerages × ARPU]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SAM — [FILL IN: serviceable markets]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SOM — [FILL IN: 3-yr reachable]</a:t>
            </a:r>
          </a:p>
          <a:p>
            <a:pPr algn="l">
              <a:spcAft>
                <a:spcPts val="1200"/>
              </a:spcAft>
            </a:pPr>
            <a:r>
              <a:rPr sz="8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Cite credible sources (industry reports, # of agencies per market, average SaaS ARPU). Bottom-up sizing (agencies × price) is more believable than top-down.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Defensibility — why we win and keep winning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Data flywheel</a:t>
            </a:r>
            <a:r>
              <a:rPr sz="1500">
                <a:solidFill>
                  <a:srgbClr val="5B667A"/>
                </a:solidFill>
                <a:latin typeface="Segoe UI"/>
              </a:rPr>
              <a:t>  —  every search, match &amp; lead improves recommendations — compounding advantage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Explainable AI</a:t>
            </a:r>
            <a:r>
              <a:rPr sz="1500">
                <a:solidFill>
                  <a:srgbClr val="5B667A"/>
                </a:solidFill>
                <a:latin typeface="Segoe UI"/>
              </a:rPr>
              <a:t>  —  DealScore + match reasons build buyer trust; hard to replicate credibly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Off-plan depth</a:t>
            </a:r>
            <a:r>
              <a:rPr sz="1500">
                <a:solidFill>
                  <a:srgbClr val="5B667A"/>
                </a:solidFill>
                <a:latin typeface="Segoe UI"/>
              </a:rPr>
              <a:t>  —  structured developments + payment engine = high switching cost for agencies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Multi-market by design</a:t>
            </a:r>
            <a:r>
              <a:rPr sz="1500">
                <a:solidFill>
                  <a:srgbClr val="5B667A"/>
                </a:solidFill>
                <a:latin typeface="Segoe UI"/>
              </a:rPr>
              <a:t>  —  currencies, languages, markets — not locked to one geography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Integration lock-in</a:t>
            </a:r>
            <a:r>
              <a:rPr sz="1500">
                <a:solidFill>
                  <a:srgbClr val="5B667A"/>
                </a:solidFill>
                <a:latin typeface="Segoe UI"/>
              </a:rPr>
              <a:t>  —  portals, CRM, proposals in one workflow agencies run their business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HOW WE MAKE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Business model — B2B SaaS with AI usage metering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Plan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Price/mo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Seats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Listings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AI calls/mo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Starter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$199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1,000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10,000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$799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Enterprise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$2,499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59536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Per-seat SaaS</a:t>
            </a:r>
            <a:r>
              <a:rPr sz="1100">
                <a:solidFill>
                  <a:srgbClr val="5B667A"/>
                </a:solidFill>
                <a:latin typeface="Segoe UI"/>
              </a:rPr>
              <a:t>  —  predictable recurring revenue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AI usage metering</a:t>
            </a:r>
            <a:r>
              <a:rPr sz="1100">
                <a:solidFill>
                  <a:srgbClr val="5B667A"/>
                </a:solidFill>
                <a:latin typeface="Segoe UI"/>
              </a:rPr>
              <a:t>  —  expansion revenue as usage grows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400" b="1">
                <a:solidFill>
                  <a:srgbClr val="0F172A"/>
                </a:solidFill>
                <a:latin typeface="Segoe UI"/>
              </a:rPr>
              <a:t>Enterprise + API</a:t>
            </a:r>
            <a:r>
              <a:rPr sz="1100">
                <a:solidFill>
                  <a:srgbClr val="5B667A"/>
                </a:solidFill>
                <a:latin typeface="Segoe UI"/>
              </a:rPr>
              <a:t>  —  high-ARPU agencies &amp;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B667A"/>
                </a:solidFill>
                <a:latin typeface="Segoe UI"/>
              </a:rPr>
              <a:t>[FILL IN: target ARPU, gross margin, CAC, LTV — even as estimates, label them clearly]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Traction &amp; 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Product readiness (real, today):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Production-grade platform built &amp; tested</a:t>
            </a:r>
            <a:r>
              <a:rPr sz="1300">
                <a:solidFill>
                  <a:srgbClr val="5B667A"/>
                </a:solidFill>
                <a:latin typeface="Segoe UI"/>
              </a:rPr>
              <a:t>  —  multi-tenant backend, 58 APIs, 28 passing tests, premium web app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Real AI integrated</a:t>
            </a:r>
            <a:r>
              <a:rPr sz="1300">
                <a:solidFill>
                  <a:srgbClr val="5B667A"/>
                </a:solidFill>
                <a:latin typeface="Segoe UI"/>
              </a:rPr>
              <a:t>  —  Claude-powered search, DealScore, copywriter, vision, assistant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Deployable now</a:t>
            </a:r>
            <a:r>
              <a:rPr sz="1300">
                <a:solidFill>
                  <a:srgbClr val="5B667A"/>
                </a:solidFill>
                <a:latin typeface="Segoe UI"/>
              </a:rPr>
              <a:t>  —  Docker, CI, migrations, S3 media, Supabase/Postgres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Market traction (your numbers):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[FILL IN] design partners / pilot agencies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[FILL IN] waitlist / LOIs / signed agencies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0F172A"/>
                </a:solidFill>
                <a:latin typeface="Segoe UI"/>
              </a:rPr>
              <a:t>[FILL IN] revenue or usage metrics, if 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How we 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3736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Incumbents / rem-app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NestMatch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Off-plan + payment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Yes + AI calculator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CRM &amp; lead distribution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Yes (4 modes)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AI matchmaking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Hybrid + explainable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DealScore investment grade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Semantic / NL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Yes (Claude)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LLM assistant + AI copywriter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Multi-market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Segoe UI"/>
                        </a:rPr>
                        <a:t>Single-market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9B62"/>
                          </a:solidFill>
                          <a:latin typeface="Segoe UI"/>
                        </a:rPr>
                        <a:t>UAE + India + N. America</a:t>
                      </a:r>
                    </a:p>
                  </a:txBody>
                  <a:tcPr>
                    <a:solidFill>
                      <a:srgbClr val="E8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Go-to-market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Land agencies (B2B), users come free</a:t>
            </a:r>
            <a:r>
              <a:rPr sz="1500">
                <a:solidFill>
                  <a:srgbClr val="5B667A"/>
                </a:solidFill>
                <a:latin typeface="Segoe UI"/>
              </a:rPr>
              <a:t>  —  sell to the brokerage; their agents &amp; buyers onboard bottom-up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Founder-led sales first</a:t>
            </a:r>
            <a:r>
              <a:rPr sz="1500">
                <a:solidFill>
                  <a:srgbClr val="5B667A"/>
                </a:solidFill>
                <a:latin typeface="Segoe UI"/>
              </a:rPr>
              <a:t>  —  high-touch onboarding of design-partner agencies to nail the wedge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Portal &amp; ad integrations</a:t>
            </a:r>
            <a:r>
              <a:rPr sz="1500">
                <a:solidFill>
                  <a:srgbClr val="5B667A"/>
                </a:solidFill>
                <a:latin typeface="Segoe UI"/>
              </a:rPr>
              <a:t>  —  Bayut, Property Finder, Dubizzle, Google/Facebook Ads as acquisition + stickiness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Partner / API channel</a:t>
            </a:r>
            <a:r>
              <a:rPr sz="1500">
                <a:solidFill>
                  <a:srgbClr val="5B667A"/>
                </a:solidFill>
                <a:latin typeface="Segoe UI"/>
              </a:rPr>
              <a:t>  —  white-label &amp; API access for developers and large agencies</a:t>
            </a:r>
          </a:p>
          <a:p>
            <a:pPr>
              <a:spcAft>
                <a:spcPts val="1500"/>
              </a:spcAft>
            </a:pPr>
            <a:r>
              <a:rPr sz="18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800" b="1">
                <a:solidFill>
                  <a:srgbClr val="0F172A"/>
                </a:solidFill>
                <a:latin typeface="Segoe UI"/>
              </a:rPr>
              <a:t>Expand by market &amp; tier</a:t>
            </a:r>
            <a:r>
              <a:rPr sz="1500">
                <a:solidFill>
                  <a:srgbClr val="5B667A"/>
                </a:solidFill>
                <a:latin typeface="Segoe UI"/>
              </a:rPr>
              <a:t>  —  beachhead market → adjacent geographies; Starter → Growth → Enterprise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291840" cy="23774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5960" y="2331720"/>
            <a:ext cx="914400" cy="91440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[Founder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[Role] — [1-line founder-market fit]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291840" cy="23774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2331720"/>
            <a:ext cx="914400" cy="91440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[Co-founder / Key hire]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[Role] — [credential]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11680"/>
            <a:ext cx="3291840" cy="23774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4290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[Advisor]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8404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67A"/>
                </a:solidFill>
                <a:latin typeface="Segoe UI"/>
              </a:rPr>
              <a:t>[Domain expertise]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B667A"/>
                </a:solidFill>
                <a:latin typeface="Segoe UI"/>
              </a:rPr>
              <a:t>[FILL IN: why this team will win — domain expertise, prior exits, technical depth, key hires the raise funds]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0B6A0"/>
                </a:solidFill>
                <a:latin typeface="Segoe U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The 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822960" cy="54864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667A"/>
                </a:solidFill>
                <a:latin typeface="Segoe UI"/>
              </a:rPr>
              <a:t>NestMatch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12080" cy="1371600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Raising [₹ AMOUNT]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DE6FF"/>
                </a:solidFill>
                <a:latin typeface="Segoe UI"/>
              </a:rPr>
              <a:t>for [18-24] months of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~40% Engineering &amp; AI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~35% Sales &amp; GTM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~15% Data &amp; infrastructure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~10% G&amp;A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Milestones this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404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[FILL IN] paying agencies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[FILL IN] ARR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[FILL IN] markets live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500" b="1">
                <a:solidFill>
                  <a:srgbClr val="0F172A"/>
                </a:solidFill>
                <a:latin typeface="Segoe UI"/>
              </a:rPr>
              <a:t>[FILL IN] AI accuracy / engagement target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822960"/>
            <a:ext cx="502920" cy="502920"/>
          </a:xfrm>
          <a:prstGeom prst="round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84124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NestMatch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The intelligence layer</a:t>
            </a:r>
          </a:p>
          <a:p>
            <a:pPr algn="l">
              <a:spcAft>
                <a:spcPts val="600"/>
              </a:spcAft>
            </a:pPr>
            <a:r>
              <a:rPr sz="4200" b="1">
                <a:solidFill>
                  <a:srgbClr val="10B6A0"/>
                </a:solidFill>
                <a:latin typeface="Segoe UI"/>
              </a:rPr>
              <a:t>for global real estate.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206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C8D0E0"/>
                </a:solidFill>
                <a:latin typeface="Segoe UI"/>
              </a:rPr>
              <a:t>Built, tested, and deployable today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0B6A0"/>
                </a:solidFill>
                <a:latin typeface="Segoe UI"/>
              </a:rPr>
              <a:t>▸  </a:t>
            </a:r>
            <a:r>
              <a:rPr sz="1600" b="1">
                <a:solidFill>
                  <a:srgbClr val="C8D0E0"/>
                </a:solidFill>
                <a:latin typeface="Segoe UI"/>
              </a:rPr>
              <a:t>Real AI · multi-market · multi-tenant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8D0E0"/>
                </a:solidFill>
                <a:latin typeface="Segoe UI"/>
              </a:rPr>
              <a:t>[Founder Name] · [email] · [phone] ·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